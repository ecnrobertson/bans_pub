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90"/>
    <p:restoredTop sz="77503"/>
  </p:normalViewPr>
  <p:slideViewPr>
    <p:cSldViewPr snapToGrid="0">
      <p:cViewPr varScale="1">
        <p:scale>
          <a:sx n="100" d="100"/>
          <a:sy n="100" d="100"/>
        </p:scale>
        <p:origin x="1136"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91B98-5C5F-FD4F-AD93-32FAE85EABDA}" type="datetimeFigureOut">
              <a:rPr lang="en-US" smtClean="0"/>
              <a:t>7/10/26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4B938-797D-5C4F-9C0C-C79BD3BA6AA5}" type="slidenum">
              <a:rPr lang="en-US" smtClean="0"/>
              <a:t>‹#›</a:t>
            </a:fld>
            <a:endParaRPr lang="en-US"/>
          </a:p>
        </p:txBody>
      </p:sp>
    </p:spTree>
    <p:extLst>
      <p:ext uri="{BB962C8B-B14F-4D97-AF65-F5344CB8AC3E}">
        <p14:creationId xmlns:p14="http://schemas.microsoft.com/office/powerpoint/2010/main" val="99884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4B938-797D-5C4F-9C0C-C79BD3BA6AA5}" type="slidenum">
              <a:rPr lang="en-US" smtClean="0"/>
              <a:t>1</a:t>
            </a:fld>
            <a:endParaRPr lang="en-US"/>
          </a:p>
        </p:txBody>
      </p:sp>
    </p:spTree>
    <p:extLst>
      <p:ext uri="{BB962C8B-B14F-4D97-AF65-F5344CB8AC3E}">
        <p14:creationId xmlns:p14="http://schemas.microsoft.com/office/powerpoint/2010/main" val="3315240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22BC-DBB4-F949-CBF8-BB9C114314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27748A-ABDD-A90E-E66B-86364C19F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95602F-D606-5BC4-B961-924AE9047378}"/>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5" name="Footer Placeholder 4">
            <a:extLst>
              <a:ext uri="{FF2B5EF4-FFF2-40B4-BE49-F238E27FC236}">
                <a16:creationId xmlns:a16="http://schemas.microsoft.com/office/drawing/2014/main" id="{CDAAAE11-2BFA-980F-6EBD-30B6A06A0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2657E8-B341-BCE6-A7C9-4A0ECCEA25A8}"/>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1627934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B09DB-91F6-3DA0-27BF-663DC0AE3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99E2ED-0CBB-FD8B-DD63-066FD89FED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96F33B-752A-BE85-6EDD-712BCB7BE949}"/>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5" name="Footer Placeholder 4">
            <a:extLst>
              <a:ext uri="{FF2B5EF4-FFF2-40B4-BE49-F238E27FC236}">
                <a16:creationId xmlns:a16="http://schemas.microsoft.com/office/drawing/2014/main" id="{910080C3-FC44-43AD-2B01-12021D7A70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90B853-8C4D-9E98-9C64-BD4378A4B23C}"/>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396250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80116-44F4-494F-5CC5-0EA95C680F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4AC3FC-F62B-24BF-F315-FBC73034C6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21BB96-7F03-6DF1-898E-0229BFB88338}"/>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5" name="Footer Placeholder 4">
            <a:extLst>
              <a:ext uri="{FF2B5EF4-FFF2-40B4-BE49-F238E27FC236}">
                <a16:creationId xmlns:a16="http://schemas.microsoft.com/office/drawing/2014/main" id="{B32F6D48-1F4D-21DD-AF37-B95916CAD7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889F22-A4B3-412D-E7D0-4C3EBFFA57AE}"/>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3091098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34EB-01CB-6F83-1006-CE0832066B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E4F067-0D64-010F-744B-082A50AF37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4881FE-1E12-F96D-7785-2CEBBAF1C1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72032A-0271-1065-2B89-1C540D744346}"/>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6" name="Footer Placeholder 5">
            <a:extLst>
              <a:ext uri="{FF2B5EF4-FFF2-40B4-BE49-F238E27FC236}">
                <a16:creationId xmlns:a16="http://schemas.microsoft.com/office/drawing/2014/main" id="{71208788-F438-1276-C488-70501E7A54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4AA0EF-73A9-1CD7-D481-C105081DB0E6}"/>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3153251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E951-8550-F1D1-E7C5-EA5D9FD962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D48510-4A12-E3A8-8638-4870877C4C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1B57D0-9BA7-4B02-1744-88681CC2B7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9C1C23-7FD8-2918-082D-A716C2D052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6DC957-11B6-0801-C688-F47BC68634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9DAF90-CEDE-C6F3-B9D2-86E7E4763B42}"/>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8" name="Footer Placeholder 7">
            <a:extLst>
              <a:ext uri="{FF2B5EF4-FFF2-40B4-BE49-F238E27FC236}">
                <a16:creationId xmlns:a16="http://schemas.microsoft.com/office/drawing/2014/main" id="{71F93A9E-09D8-04B4-DF5B-8F3F9925491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BBCC53-4271-A2B5-5FEA-1166FF3CD1E3}"/>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4034478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B2C54-E10A-C5A1-B929-811D57DD49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D9E3B6-B194-87D2-F69E-4E5082C19743}"/>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4" name="Footer Placeholder 3">
            <a:extLst>
              <a:ext uri="{FF2B5EF4-FFF2-40B4-BE49-F238E27FC236}">
                <a16:creationId xmlns:a16="http://schemas.microsoft.com/office/drawing/2014/main" id="{8687FEFD-6207-3FE7-1537-B37AA563ED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625F38-2CD2-3C42-5541-146DD4DB1BF0}"/>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937094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E7E430-8A9D-A889-9828-5BCD52203827}"/>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3" name="Footer Placeholder 2">
            <a:extLst>
              <a:ext uri="{FF2B5EF4-FFF2-40B4-BE49-F238E27FC236}">
                <a16:creationId xmlns:a16="http://schemas.microsoft.com/office/drawing/2014/main" id="{CEEDFC6A-945A-937B-A73A-5EA01B81FA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BBF1AA-DF3F-8552-155B-70EE395CE5FE}"/>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269418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F6B67-7A54-B96C-46BF-7F35336E8B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9697CD-60A6-105D-226A-460E85C666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3CEDDD-22DE-218A-5110-88E9A6D7F7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965D3F-7445-9AC7-F6B8-6FF7C6924942}"/>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6" name="Footer Placeholder 5">
            <a:extLst>
              <a:ext uri="{FF2B5EF4-FFF2-40B4-BE49-F238E27FC236}">
                <a16:creationId xmlns:a16="http://schemas.microsoft.com/office/drawing/2014/main" id="{DA484ECE-1DC6-9D90-6778-59A21ADDCF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A9F2C8-E9DD-413C-6152-4C409263E90F}"/>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1198040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8EF4D-EA0C-EC0F-BC7C-EF4B0281E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81B8C4-0477-A163-B236-E8694D6801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F118D3-E39B-E663-D74B-054B25A9A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E5E332-556F-6152-BBDF-91EF4FD30904}"/>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6" name="Footer Placeholder 5">
            <a:extLst>
              <a:ext uri="{FF2B5EF4-FFF2-40B4-BE49-F238E27FC236}">
                <a16:creationId xmlns:a16="http://schemas.microsoft.com/office/drawing/2014/main" id="{31FD16C8-0292-0A4A-E636-E9B22574DC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C53F7-0C38-13EC-EECB-E497B1DA371C}"/>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3368143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7B896-FB95-3EF0-7F06-73D16764B3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6CF19-500B-ECBE-FEE9-CF3BE513DC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68B6E5-933C-C245-4850-083472D859BA}"/>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5" name="Footer Placeholder 4">
            <a:extLst>
              <a:ext uri="{FF2B5EF4-FFF2-40B4-BE49-F238E27FC236}">
                <a16:creationId xmlns:a16="http://schemas.microsoft.com/office/drawing/2014/main" id="{B5BD3983-FDB6-A21C-7077-918F05B8D0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4D4A51-5B0A-BE93-43DC-87AC345AFE24}"/>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3913781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BF91B7-1FDA-8744-77D9-F35001A17B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40BD3C-6A90-13D0-61EF-AA68FEDE13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64E8CF-E34C-7239-DC73-4C4B45AD8BF9}"/>
              </a:ext>
            </a:extLst>
          </p:cNvPr>
          <p:cNvSpPr>
            <a:spLocks noGrp="1"/>
          </p:cNvSpPr>
          <p:nvPr>
            <p:ph type="dt" sz="half" idx="10"/>
          </p:nvPr>
        </p:nvSpPr>
        <p:spPr/>
        <p:txBody>
          <a:bodyPr/>
          <a:lstStyle/>
          <a:p>
            <a:fld id="{F8E81D31-F346-4F44-BA9F-95364B62CC68}" type="datetimeFigureOut">
              <a:rPr lang="en-US" smtClean="0"/>
              <a:t>7/10/26</a:t>
            </a:fld>
            <a:endParaRPr lang="en-US"/>
          </a:p>
        </p:txBody>
      </p:sp>
      <p:sp>
        <p:nvSpPr>
          <p:cNvPr id="5" name="Footer Placeholder 4">
            <a:extLst>
              <a:ext uri="{FF2B5EF4-FFF2-40B4-BE49-F238E27FC236}">
                <a16:creationId xmlns:a16="http://schemas.microsoft.com/office/drawing/2014/main" id="{3883BF9D-1051-11DC-30AA-84C9FEE1F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78DB6F-AF2A-0156-3F73-9DDC0D5B19DD}"/>
              </a:ext>
            </a:extLst>
          </p:cNvPr>
          <p:cNvSpPr>
            <a:spLocks noGrp="1"/>
          </p:cNvSpPr>
          <p:nvPr>
            <p:ph type="sldNum" sz="quarter" idx="12"/>
          </p:nvPr>
        </p:nvSpPr>
        <p:spPr/>
        <p:txBody>
          <a:bodyPr/>
          <a:lstStyle/>
          <a:p>
            <a:fld id="{874A67DE-E4C0-2E4E-BB18-F738E2091DA9}" type="slidenum">
              <a:rPr lang="en-US" smtClean="0"/>
              <a:t>‹#›</a:t>
            </a:fld>
            <a:endParaRPr lang="en-US"/>
          </a:p>
        </p:txBody>
      </p:sp>
    </p:spTree>
    <p:extLst>
      <p:ext uri="{BB962C8B-B14F-4D97-AF65-F5344CB8AC3E}">
        <p14:creationId xmlns:p14="http://schemas.microsoft.com/office/powerpoint/2010/main" val="2828680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19776A-7FDC-22DA-97D2-7F70DE9F9F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E65764-9C96-F352-0421-C766911E72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0B8F64-95CA-182C-5F50-34C566F1F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E81D31-F346-4F44-BA9F-95364B62CC68}" type="datetimeFigureOut">
              <a:rPr lang="en-US" smtClean="0"/>
              <a:t>7/10/26</a:t>
            </a:fld>
            <a:endParaRPr lang="en-US"/>
          </a:p>
        </p:txBody>
      </p:sp>
      <p:sp>
        <p:nvSpPr>
          <p:cNvPr id="5" name="Footer Placeholder 4">
            <a:extLst>
              <a:ext uri="{FF2B5EF4-FFF2-40B4-BE49-F238E27FC236}">
                <a16:creationId xmlns:a16="http://schemas.microsoft.com/office/drawing/2014/main" id="{4EE70BCE-A339-AEAB-E58A-41737A0088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FC5C3A-87CC-2F9D-EAB0-D292C3CE8B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4A67DE-E4C0-2E4E-BB18-F738E2091DA9}" type="slidenum">
              <a:rPr lang="en-US" smtClean="0"/>
              <a:t>‹#›</a:t>
            </a:fld>
            <a:endParaRPr lang="en-US"/>
          </a:p>
        </p:txBody>
      </p:sp>
    </p:spTree>
    <p:extLst>
      <p:ext uri="{BB962C8B-B14F-4D97-AF65-F5344CB8AC3E}">
        <p14:creationId xmlns:p14="http://schemas.microsoft.com/office/powerpoint/2010/main" val="5962283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CDF3D344-EC2F-4083-3FB2-1B0127134488}"/>
              </a:ext>
            </a:extLst>
          </p:cNvPr>
          <p:cNvSpPr txBox="1"/>
          <p:nvPr/>
        </p:nvSpPr>
        <p:spPr>
          <a:xfrm>
            <a:off x="8686800" y="270509"/>
            <a:ext cx="3261041" cy="6494085"/>
          </a:xfrm>
          <a:prstGeom prst="rect">
            <a:avLst/>
          </a:prstGeom>
          <a:noFill/>
        </p:spPr>
        <p:txBody>
          <a:bodyPr wrap="square" rtlCol="0">
            <a:spAutoFit/>
          </a:bodyPr>
          <a:lstStyle/>
          <a:p>
            <a:r>
              <a:rPr lang="en-US" sz="1600" b="1" dirty="0"/>
              <a:t>Figure 1. Delineation of conservation units.</a:t>
            </a:r>
            <a:r>
              <a:rPr lang="en-US" sz="1600" dirty="0"/>
              <a:t> (A) Admixture proportions and corresponding genoscape inferred from all loci, identifying three evolutionarily significant units (ESUs). (B) Admixture proportions and corresponding genoscape inferred from adaptive loci, identifying three adaptive units (AUs): Eastern (red), Northern (green), and Western (blue). (C) Principal components analysis (PCA) of all sampled individuals, colored by AU assignment using a 55% admixture threshold. Within each AU, sample sites are distinguished by a color gradient, and point shapes denote AU membership. Individuals that did not meet the assignment threshold are shown in grey. (D) Redundancy analysis (RDA) ordination from the full RDA model, with samples colored by AU assignment using the same 55% admixture threshold.</a:t>
            </a:r>
          </a:p>
        </p:txBody>
      </p:sp>
      <p:pic>
        <p:nvPicPr>
          <p:cNvPr id="3" name="Picture 2">
            <a:extLst>
              <a:ext uri="{FF2B5EF4-FFF2-40B4-BE49-F238E27FC236}">
                <a16:creationId xmlns:a16="http://schemas.microsoft.com/office/drawing/2014/main" id="{58202AD8-7D37-8BE7-D189-F906470B0DE1}"/>
              </a:ext>
            </a:extLst>
          </p:cNvPr>
          <p:cNvPicPr>
            <a:picLocks noChangeAspect="1"/>
          </p:cNvPicPr>
          <p:nvPr/>
        </p:nvPicPr>
        <p:blipFill>
          <a:blip r:embed="rId3"/>
          <a:stretch>
            <a:fillRect/>
          </a:stretch>
        </p:blipFill>
        <p:spPr>
          <a:xfrm>
            <a:off x="-1" y="0"/>
            <a:ext cx="8575879" cy="6764594"/>
          </a:xfrm>
          <a:prstGeom prst="rect">
            <a:avLst/>
          </a:prstGeom>
        </p:spPr>
      </p:pic>
    </p:spTree>
    <p:extLst>
      <p:ext uri="{BB962C8B-B14F-4D97-AF65-F5344CB8AC3E}">
        <p14:creationId xmlns:p14="http://schemas.microsoft.com/office/powerpoint/2010/main" val="584189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D3619A3-EAA7-96E4-B6FC-5088E5D8BCD9}"/>
              </a:ext>
            </a:extLst>
          </p:cNvPr>
          <p:cNvSpPr txBox="1"/>
          <p:nvPr/>
        </p:nvSpPr>
        <p:spPr>
          <a:xfrm>
            <a:off x="9471246" y="961711"/>
            <a:ext cx="2720754" cy="4524315"/>
          </a:xfrm>
          <a:prstGeom prst="rect">
            <a:avLst/>
          </a:prstGeom>
          <a:noFill/>
        </p:spPr>
        <p:txBody>
          <a:bodyPr wrap="square" rtlCol="0">
            <a:spAutoFit/>
          </a:bodyPr>
          <a:lstStyle/>
          <a:p>
            <a:r>
              <a:rPr lang="en-US" sz="1600" b="1" dirty="0"/>
              <a:t>Figure 2. Results of generalized additive mixed model (GAMM) analyses.</a:t>
            </a:r>
            <a:r>
              <a:rPr lang="en-US" sz="1600" dirty="0"/>
              <a:t> (A) Spatial distribution of abundance trends overlaid on adaptive unit (AU) polygons. (B) Distribution of abundance trends within each AU, shown as violin plots with overlaid boxplots. (C) Predicted abundance trends from the AU-specific GAMM (</a:t>
            </a:r>
            <a:r>
              <a:rPr lang="en-US" sz="1600" dirty="0" err="1"/>
              <a:t>modGS</a:t>
            </a:r>
            <a:r>
              <a:rPr lang="en-US" sz="1600" dirty="0"/>
              <a:t>) as functions of changes in maximum temperature, precipitation, soil moisture, and minimum temperature, with separate curves shown for each AU.</a:t>
            </a:r>
          </a:p>
        </p:txBody>
      </p:sp>
      <p:pic>
        <p:nvPicPr>
          <p:cNvPr id="3" name="Picture 2">
            <a:extLst>
              <a:ext uri="{FF2B5EF4-FFF2-40B4-BE49-F238E27FC236}">
                <a16:creationId xmlns:a16="http://schemas.microsoft.com/office/drawing/2014/main" id="{512534EC-3FFA-49AC-971F-598CE94F2886}"/>
              </a:ext>
            </a:extLst>
          </p:cNvPr>
          <p:cNvPicPr>
            <a:picLocks noChangeAspect="1"/>
          </p:cNvPicPr>
          <p:nvPr/>
        </p:nvPicPr>
        <p:blipFill>
          <a:blip r:embed="rId2"/>
          <a:stretch>
            <a:fillRect/>
          </a:stretch>
        </p:blipFill>
        <p:spPr>
          <a:xfrm>
            <a:off x="18518" y="579280"/>
            <a:ext cx="9452728" cy="5699439"/>
          </a:xfrm>
          <a:prstGeom prst="rect">
            <a:avLst/>
          </a:prstGeom>
        </p:spPr>
      </p:pic>
    </p:spTree>
    <p:extLst>
      <p:ext uri="{BB962C8B-B14F-4D97-AF65-F5344CB8AC3E}">
        <p14:creationId xmlns:p14="http://schemas.microsoft.com/office/powerpoint/2010/main" val="1738011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2FE2C6E-3A48-6676-0221-9CAC9C82D80B}"/>
              </a:ext>
            </a:extLst>
          </p:cNvPr>
          <p:cNvSpPr txBox="1"/>
          <p:nvPr/>
        </p:nvSpPr>
        <p:spPr>
          <a:xfrm>
            <a:off x="7491975" y="393541"/>
            <a:ext cx="3388228" cy="3693319"/>
          </a:xfrm>
          <a:prstGeom prst="rect">
            <a:avLst/>
          </a:prstGeom>
          <a:noFill/>
        </p:spPr>
        <p:txBody>
          <a:bodyPr wrap="square" rtlCol="0">
            <a:spAutoFit/>
          </a:bodyPr>
          <a:lstStyle/>
          <a:p>
            <a:r>
              <a:rPr lang="en-US" b="1" dirty="0"/>
              <a:t>Figure 3. Genomic offset predictions.</a:t>
            </a:r>
            <a:r>
              <a:rPr lang="en-US" dirty="0"/>
              <a:t> (A) Spatial distribution of predicted genomic offset, where warmer colors (red) indicate greater genomic offset and, therefore, higher predicted vulnerability to future environmental change. (B) Distribution of genomic offset values across adaptive units (AUs), shown as density distributions with overlaid boxplots.</a:t>
            </a:r>
          </a:p>
        </p:txBody>
      </p:sp>
      <p:pic>
        <p:nvPicPr>
          <p:cNvPr id="3" name="Picture 2">
            <a:extLst>
              <a:ext uri="{FF2B5EF4-FFF2-40B4-BE49-F238E27FC236}">
                <a16:creationId xmlns:a16="http://schemas.microsoft.com/office/drawing/2014/main" id="{8200F24A-9288-AC8C-ABF7-1B29A341AB95}"/>
              </a:ext>
            </a:extLst>
          </p:cNvPr>
          <p:cNvPicPr>
            <a:picLocks noChangeAspect="1"/>
          </p:cNvPicPr>
          <p:nvPr/>
        </p:nvPicPr>
        <p:blipFill>
          <a:blip r:embed="rId2"/>
          <a:stretch>
            <a:fillRect/>
          </a:stretch>
        </p:blipFill>
        <p:spPr>
          <a:xfrm>
            <a:off x="107950" y="73659"/>
            <a:ext cx="7283450" cy="6632767"/>
          </a:xfrm>
          <a:prstGeom prst="rect">
            <a:avLst/>
          </a:prstGeom>
        </p:spPr>
      </p:pic>
    </p:spTree>
    <p:extLst>
      <p:ext uri="{BB962C8B-B14F-4D97-AF65-F5344CB8AC3E}">
        <p14:creationId xmlns:p14="http://schemas.microsoft.com/office/powerpoint/2010/main" val="620837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525</TotalTime>
  <Words>299</Words>
  <Application>Microsoft Macintosh PowerPoint</Application>
  <PresentationFormat>Widescreen</PresentationFormat>
  <Paragraphs>4</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Erica Robertson</dc:creator>
  <cp:lastModifiedBy>Erica Robertson</cp:lastModifiedBy>
  <cp:revision>2</cp:revision>
  <dcterms:created xsi:type="dcterms:W3CDTF">2026-07-06T15:03:07Z</dcterms:created>
  <dcterms:modified xsi:type="dcterms:W3CDTF">2026-07-10T20:41:36Z</dcterms:modified>
</cp:coreProperties>
</file>